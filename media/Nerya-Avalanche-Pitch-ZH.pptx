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Nerya 的 Avalanche 版本，用自然语言连接投研、策略验证和定制看板。今天展示的是可检查的策略工作流，不是实盘收益承诺。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用户只需要与一个主智能体对话，保留上下文、委派研究、调用工具，再根据结果复盘。在 Avalanche 场景中，同一套工作流覆盖流动性池观察与 AVAX 趋势策略，交付的是实际策略文件、验证结果和看板页面。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Harness 让 Agent 的思考进入持续运行的工作。模型路由支持规划，工具与 Skills 完成动作，专业 Agent 可以并行处理任务。记忆与持久状态连接不同会话，配置好的触发器安排策略运行和复盘。量化工作需要在得到第一个回答后继续推进，这些机制让任务能够保留上下文、管理工具，并在之后回到同一条策略上。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三个专业成员并行研究流动性、行情和风险，再由主智能体汇总成报告。本次真实运行中三个成员均成功完成。报告明确区分报价与成交，并保留规模成本和历史数据不足的限制。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流动性池策略以 LFJ 为研究对象，纸面预算一千美元，锚定价格上下百分之十，并通过三项测试。费用、无常损失、库存和历史 bin 数据仍不完整，因此它是观察模式，不执行添加、移除或再平衡。AVAX 趋势策略用二十日突破入场、十日退出和五百美元纸面预算，通过五项测试；一百八十根日线回放产生两笔模拟交易，收益约百分之零点一六，低于同期买入持有，系统给出表现警告。这不是 LFJ 历史成交，也不代表真实链上交易已经发生。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Nerya 支持从市场和运行历史中提出改进，生成下一版候选，再经过回测与批准。演示中的两个策略调度尚未启用，真实交易保持关闭，因此不能把这段演示说成自主持续交易已经完成。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看板由用户提出需求，再由智能体生成候选、检查并实际应用。这里使用本次真实 Avalanche 策略实验室截图，包含流动性池观察、趋势回放、投研摘要和风险提示。投研报告与看板把证据组织起来，便于后续复盘，而不是把未知字段填成确定收益。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Nerya 把账户凭据放在 Vault 边界之后，Agent 配置的是 vault 引用，账户接口拒绝直接填写明文密钥。运行时按所需 scope 解析凭据；强加密组件可用时，Vault 使用 AES-GCM 保存密钥。实盘路径拒绝弱加密环境，还要检查运行时开关、账户权限、风控和批准。这是当前实现的凭据保护与访问控制，不代表已经审计的资产托管能力，也不保证交易不会亏损。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未来盈利有两条路径。AI 会员提供 API 额度、专业数据、专用 RPC 和高级访问权限，通过链上钱包以 x402 付费。A2A 策略经济结合 ERC-8004 身份与声誉，让 Agent 互相学习策略、参与付费论坛，并购买服务或交流策略，Nerya 收取市场手续费。这些属于未来规划，页面没有给出已经上线的计费能力或会员价格。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欢迎在 GitHub 试用 Nerya 的 Avalanche 版本。扫描二维码或打开 NeryaAI 的 Nerya-Avalanche 仓库，喜欢的话请点一个 Star。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h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1daa688ecdcf398c.png" />
    <Relationship Id="rId3" Type="http://schemas.openxmlformats.org/officeDocument/2006/relationships/notesSlide" Target="../notesSlides/notesSlide1.xml"/>
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8ec91dae9cc7ed8.png"/>
  <Relationship Id="rId3" Type="http://schemas.openxmlformats.org/officeDocument/2006/relationships/notesSlide" Target="../notesSlides/notesSlide3.xml"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7fd84c440c792d86.png" />
    <Relationship Id="rId3" Type="http://schemas.openxmlformats.org/officeDocument/2006/relationships/notesSlide" Target="../notesSlides/notesSlide4.xml"/>
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5.xml"/>
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d7b56114ff77722d.png" />
    <Relationship Id="rId3" Type="http://schemas.openxmlformats.org/officeDocument/2006/relationships/notesSlide" Target="../notesSlides/notesSlide6.xml"/>
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a48987ae83e6c103.png" />
  <Relationship Id="rId5" Type="http://schemas.openxmlformats.org/officeDocument/2006/relationships/image" Target="../media/image_6b02eb18013b4232.png" />  <Relationship Id="rId6" Type="http://schemas.openxmlformats.org/officeDocument/2006/relationships/notesSlide" Target="../notesSlides/notesSlide7.xml" 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c13edb2dc213fe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3" Type="http://schemas.openxmlformats.org/officeDocument/2006/relationships/image" Target="../media/image_f1cf34d8ee855dd0.png" />
  <Relationship Id="rId6" Type="http://schemas.openxmlformats.org/officeDocument/2006/relationships/hyperlink" Target="https://github.com/NeryaAI/Nerya-Avalanche" TargetMode="External" /><Relationship Id="rId7" Type="http://schemas.openxmlformats.org/officeDocument/2006/relationships/image" Target="../media/image_9cf8a66d18ce4d8c.png" />  <Relationship Id="rId8" Type="http://schemas.openxmlformats.org/officeDocument/2006/relationships/notesSlide" Target="../notesSlides/notesSlide10.xml" 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rand-orbit"/>
          <p:cNvGrpSpPr/>
          <p:nvPr/>
        </p:nvGrpSpPr>
        <p:grpSpPr>
          <a:xfrm>
            <a:off x="7315200" y="1181100"/>
            <a:ext cx="3848100" cy="4572000"/>
            <a:chOff x="7315200" y="1181100"/>
            <a:chExt cx="3848100" cy="4572000"/>
          </a:xfrm>
        </p:grpSpPr>
        <p:sp>
          <p:nvSpPr>
            <p:cNvPr id="2" name="Ellipse 2"/>
            <p:cNvSpPr/>
            <p:nvPr/>
          </p:nvSpPr>
          <p:spPr>
            <a:xfrm>
              <a:off x="7315200" y="1181100"/>
              <a:ext cx="3848100" cy="4572000"/>
            </a:xfrm>
            <a:prstGeom prst="ellipse">
              <a:avLst/>
            </a:pr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7620000" y="1476375"/>
              <a:ext cx="3238500" cy="3981450"/>
            </a:xfrm>
            <a:prstGeom prst="ellipse">
              <a:avLst/>
            </a:prstGeom>
            <a:noFill/>
            <a:ln w="9525">
              <a:solidFill>
                <a:schemeClr val="accent1">
                  <a:alpha val="18000"/>
                </a:schemeClr>
              </a:solidFill>
            </a:ln>
          </p:spPr>
        </p:sp>
      </p:grpSp>
      <p:grpSp>
        <p:nvGrpSpPr>
          <p:cNvPr id="7" name="identity"/>
          <p:cNvGrpSpPr/>
          <p:nvPr/>
        </p:nvGrpSpPr>
        <p:grpSpPr>
          <a:xfrm>
            <a:off x="521208" y="412750"/>
            <a:ext cx="6117717" cy="558800"/>
            <a:chOff x="521208" y="412750"/>
            <a:chExt cx="6117717" cy="558800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412750"/>
              <a:ext cx="11978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NERYA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962025"/>
              <a:ext cx="6105525" cy="9525"/>
            </a:xfrm>
            <a:custGeom>
              <a:avLst/>
              <a:gdLst/>
              <a:ahLst/>
              <a:cxnLst/>
              <a:rect l="l" t="t" r="r" b="b"/>
              <a:pathLst>
                <a:path w="6105525" h="9525">
                  <a:moveTo>
                    <a:pt x="0" y="0"/>
                  </a:moveTo>
                  <a:lnTo>
                    <a:pt x="61055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cover-message"/>
          <p:cNvGrpSpPr/>
          <p:nvPr/>
        </p:nvGrpSpPr>
        <p:grpSpPr>
          <a:xfrm>
            <a:off x="514350" y="1946243"/>
            <a:ext cx="3190684" cy="3197257"/>
            <a:chOff x="514350" y="1946243"/>
            <a:chExt cx="3190684" cy="3197257"/>
          </a:xfrm>
        </p:grpSpPr>
        <p:sp>
          <p:nvSpPr>
            <p:cNvPr id="8" name="TextBox 8"/>
            <p:cNvSpPr/>
            <p:nvPr/>
          </p:nvSpPr>
          <p:spPr>
            <a:xfrm>
              <a:off x="514350" y="1946243"/>
              <a:ext cx="3190684" cy="162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5925"/>
                </a:lnSpc>
              </a:pPr>
              <a:r>
                <a:rPr lang="en-US" sz="4500" b="1" dirty="0">
                  <a:solidFill>
                    <a:srgbClr val="E9EBF2"/>
                  </a:solidFill>
                  <a:latin typeface="Arial Black"/>
                  <a:ea typeface="Arial Black"/>
                  <a:cs typeface="Arial Black"/>
                </a:rPr>
                <a:t>Avalanche</a:t>
              </a:r>
              <a:br>
                <a:rPr lang="en-US" sz="4500" b="1" dirty="0">
                  <a:solidFill>
                    <a:srgbClr val="E9EBF2"/>
                  </a:solidFill>
                  <a:latin typeface="Arial Black"/>
                  <a:ea typeface="Arial Black"/>
                  <a:cs typeface="Arial Black"/>
                </a:rPr>
              </a:br>
              <a:r>
                <a:rPr lang="zh-CN" sz="4500" b="1" dirty="0">
                  <a:solidFill>
                    <a:srgbClr val="E9EBF2"/>
                  </a:solidFill>
                  <a:latin typeface="Arial Black"/>
                  <a:ea typeface="Microsoft YaHei"/>
                  <a:cs typeface="Arial Black"/>
                </a:rPr>
                <a:t>量化 Agent</a:t>
              </a:r>
            </a:p>
          </p:txBody>
        </p:sp>
        <p:sp>
          <p:nvSpPr>
            <p:cNvPr id="9" name="TextBox 9"/>
            <p:cNvSpPr/>
            <p:nvPr/>
          </p:nvSpPr>
          <p:spPr>
            <a:xfrm>
              <a:off x="562356" y="3927443"/>
              <a:ext cx="253288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rgbClr val="A3ACC0"/>
                  </a:solidFill>
                  <a:latin typeface="Arial"/>
                  <a:ea typeface="Microsoft YaHei"/>
                  <a:cs typeface="Arial"/>
                </a:rPr>
                <a:t>从对话到策略</a:t>
              </a:r>
              <a:br>
                <a:rPr lang="zh-CN" sz="1800" dirty="0">
                  <a:solidFill>
                    <a:srgbClr val="A3ACC0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800" dirty="0">
                  <a:solidFill>
                    <a:srgbClr val="A3ACC0"/>
                  </a:solidFill>
                  <a:latin typeface="Arial"/>
                  <a:ea typeface="Microsoft YaHei"/>
                  <a:cs typeface="Arial"/>
                </a:rPr>
                <a:t>投研、验证与定制看板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5133975"/>
              <a:ext cx="1581150" cy="9525"/>
            </a:xfrm>
            <a:custGeom>
              <a:avLst/>
              <a:gdLst/>
              <a:ahLst/>
              <a:cxnLst/>
              <a:rect l="l" t="t" r="r" b="b"/>
              <a:pathLst>
                <a:path w="1581150" h="9525">
                  <a:moveTo>
                    <a:pt x="0" y="0"/>
                  </a:moveTo>
                  <a:lnTo>
                    <a:pt x="15811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13" name="mascot-hero"/>
          <p:cNvGrpSpPr/>
          <p:nvPr/>
        </p:nvGrpSpPr>
        <p:grpSpPr>
          <a:xfrm>
            <a:off x="7527131" y="457200"/>
            <a:ext cx="3748088" cy="5619750"/>
            <a:chOff x="7527131" y="457200"/>
            <a:chExt cx="3748088" cy="561975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27131" y="457200"/>
              <a:ext cx="3748088" cy="5619750"/>
            </a:xfrm>
            <a:prstGeom prst="rect">
              <a:avLst/>
            </a:prstGeom>
          </p:spPr>
        </p:pic>
      </p:grpSp>
      <p:sp>
        <p:nvSpPr>
          <p:cNvPr id="14" name="TextBox 14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515112" y="441293"/>
            <a:ext cx="4151376" cy="1713738"/>
            <a:chOff x="515112" y="441293"/>
            <a:chExt cx="4151376" cy="1713738"/>
          </a:xfrm>
        </p:grpSpPr>
        <p:sp>
          <p:nvSpPr>
            <p:cNvPr id="2" name="TextBox 2"/>
            <p:cNvSpPr/>
            <p:nvPr/>
          </p:nvSpPr>
          <p:spPr>
            <a:xfrm>
              <a:off x="527304" y="441293"/>
              <a:ext cx="2635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48BFF"/>
                  </a:solidFill>
                  <a:latin typeface="Consolas"/>
                  <a:ea typeface="Microsoft YaHei"/>
                  <a:cs typeface="Consolas"/>
                </a:rPr>
                <a:t>01 / AVALANCHE 量化助理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15112" y="860393"/>
              <a:ext cx="4151376" cy="1294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3600" b="1" dirty="0">
                  <a:solidFill>
                    <a:srgbClr val="E9EBF2"/>
                  </a:solidFill>
                  <a:latin typeface="Arial Black"/>
                  <a:ea typeface="Microsoft YaHei"/>
                  <a:cs typeface="Arial Black"/>
                </a:rPr>
                <a:t>与一个 Agent 对话</a:t>
              </a:r>
              <a:br>
                <a:rPr lang="zh-CN" sz="3600" b="1" dirty="0">
                  <a:solidFill>
                    <a:srgbClr val="E9EBF2"/>
                  </a:solidFill>
                  <a:latin typeface="Arial Black"/>
                  <a:ea typeface="Microsoft YaHei"/>
                  <a:cs typeface="Arial Black"/>
                </a:rPr>
              </a:br>
              <a:r>
                <a:rPr lang="zh-CN" sz="3600" b="1" dirty="0">
                  <a:solidFill>
                    <a:srgbClr val="E9EBF2"/>
                  </a:solidFill>
                  <a:latin typeface="Arial Black"/>
                  <a:ea typeface="Microsoft YaHei"/>
                  <a:cs typeface="Arial Black"/>
                </a:rPr>
                <a:t>协作 AVAX 策略</a:t>
              </a:r>
            </a:p>
          </p:txBody>
        </p:sp>
      </p:grpSp>
      <p:grpSp>
        <p:nvGrpSpPr>
          <p:cNvPr id="17" name="fragmented-tasks"/>
          <p:cNvGrpSpPr/>
          <p:nvPr/>
        </p:nvGrpSpPr>
        <p:grpSpPr>
          <a:xfrm>
            <a:off x="522732" y="3009900"/>
            <a:ext cx="11135868" cy="718693"/>
            <a:chOff x="522732" y="3009900"/>
            <a:chExt cx="11135868" cy="718693"/>
          </a:xfrm>
        </p:grpSpPr>
        <p:sp>
          <p:nvSpPr>
            <p:cNvPr id="5" name="Line 5"/>
            <p:cNvSpPr/>
            <p:nvPr/>
          </p:nvSpPr>
          <p:spPr>
            <a:xfrm>
              <a:off x="533400" y="3095625"/>
              <a:ext cx="2276475" cy="9525"/>
            </a:xfrm>
            <a:custGeom>
              <a:avLst/>
              <a:gdLst/>
              <a:ahLst/>
              <a:cxnLst/>
              <a:rect l="l" t="t" r="r" b="b"/>
              <a:pathLst>
                <a:path w="2276475" h="9525">
                  <a:moveTo>
                    <a:pt x="0" y="0"/>
                  </a:moveTo>
                  <a:lnTo>
                    <a:pt x="22764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438525" y="309562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153150" y="3095625"/>
              <a:ext cx="2085975" cy="9525"/>
            </a:xfrm>
            <a:custGeom>
              <a:avLst/>
              <a:gdLst/>
              <a:ahLst/>
              <a:cxnLst/>
              <a:rect l="l" t="t" r="r" b="b"/>
              <a:pathLst>
                <a:path w="2085975" h="9525">
                  <a:moveTo>
                    <a:pt x="0" y="0"/>
                  </a:moveTo>
                  <a:lnTo>
                    <a:pt x="20859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858250" y="3095625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00075" y="3009900"/>
              <a:ext cx="171450" cy="171450"/>
            </a:xfrm>
            <a:prstGeom prst="ellipse">
              <a:avLst/>
            </a:prstGeom>
            <a:solidFill>
              <a:srgbClr val="A3ACC0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505200" y="3009900"/>
              <a:ext cx="171450" cy="171450"/>
            </a:xfrm>
            <a:prstGeom prst="ellipse">
              <a:avLst/>
            </a:prstGeom>
            <a:solidFill>
              <a:srgbClr val="A3ACC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219825" y="3009900"/>
              <a:ext cx="171450" cy="171450"/>
            </a:xfrm>
            <a:prstGeom prst="ellipse">
              <a:avLst/>
            </a:prstGeom>
            <a:solidFill>
              <a:srgbClr val="A3ACC0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924925" y="3009900"/>
              <a:ext cx="171450" cy="171450"/>
            </a:xfrm>
            <a:prstGeom prst="ellipse">
              <a:avLst/>
            </a:prstGeom>
            <a:solidFill>
              <a:srgbClr val="A3ACC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2732" y="33178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保留工作上下文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7857" y="3317875"/>
              <a:ext cx="2041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委派专业 Agent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42482" y="33178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调用实际工具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7582" y="33178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复盘并迭代</a:t>
              </a:r>
            </a:p>
          </p:txBody>
        </p:sp>
      </p:grpSp>
      <p:grpSp>
        <p:nvGrpSpPr>
          <p:cNvPr id="20" name="operating-burden"/>
          <p:cNvGrpSpPr/>
          <p:nvPr/>
        </p:nvGrpSpPr>
        <p:grpSpPr>
          <a:xfrm>
            <a:off x="521208" y="4895850"/>
            <a:ext cx="11137392" cy="729710"/>
            <a:chOff x="521208" y="4895850"/>
            <a:chExt cx="11137392" cy="729710"/>
          </a:xfrm>
        </p:grpSpPr>
        <p:sp>
          <p:nvSpPr>
            <p:cNvPr id="18" name="Line 18"/>
            <p:cNvSpPr/>
            <p:nvPr/>
          </p:nvSpPr>
          <p:spPr>
            <a:xfrm>
              <a:off x="533400" y="4895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9" name="TextBox 19"/>
            <p:cNvSpPr/>
            <p:nvPr/>
          </p:nvSpPr>
          <p:spPr>
            <a:xfrm>
              <a:off x="521208" y="5156168"/>
              <a:ext cx="66054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rgbClr val="E9EBF2"/>
                  </a:solidFill>
                  <a:latin typeface="Arial Black"/>
                  <a:ea typeface="Microsoft YaHei"/>
                  <a:cs typeface="Arial Black"/>
                </a:rPr>
                <a:t>在 Avalanche 上，</a:t>
              </a:r>
              <a:r>
                <a:rPr lang="zh-CN" sz="2400" dirty="0">
                  <a:solidFill>
                    <a:srgbClr val="B48BFF"/>
                  </a:solidFill>
                  <a:latin typeface="Arial Black"/>
                  <a:ea typeface="Microsoft YaHei"/>
                  <a:cs typeface="Arial Black"/>
                </a:rPr>
                <a:t>把研究变成策略。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515112" y="441325"/>
            <a:ext cx="3652628" cy="1713738"/>
            <a:chOff x="515112" y="441325"/>
            <a:chExt cx="3652628" cy="1713738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1325"/>
              <a:ext cx="2765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Arial Unicode MS"/>
                  <a:cs typeface="Consolas"/>
                </a:rPr>
                <a:t>02 / AGENT HARNESS 如何参与工作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60425"/>
              <a:ext cx="3652628" cy="1294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4650"/>
                </a:lnSpc>
              </a:pPr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Agent Harness</a:t>
              </a:r>
              <a:b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</a:br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让想法真正运行</a:t>
              </a:r>
            </a:p>
          </p:txBody>
        </p:sp>
      </p:grpSp>
      <p:grpSp>
        <p:nvGrpSpPr>
          <p:cNvPr id="6" name="strategy-companion"/>
          <p:cNvGrpSpPr/>
          <p:nvPr/>
        </p:nvGrpSpPr>
        <p:grpSpPr>
          <a:xfrm>
            <a:off x="1233488" y="2257425"/>
            <a:ext cx="3476625" cy="3476625"/>
            <a:chOff x="1233488" y="2257425"/>
            <a:chExt cx="3476625" cy="347662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3488" y="2257425"/>
              <a:ext cx="3476625" cy="3476625"/>
            </a:xfrm>
            <a:prstGeom prst="rect">
              <a:avLst/>
            </a:prstGeom>
          </p:spPr>
        </p:pic>
      </p:grpSp>
      <p:sp>
        <p:nvSpPr>
          <p:cNvPr id="7" name="Freeform 7"/>
          <p:cNvSpPr/>
          <p:nvPr/>
        </p:nvSpPr>
        <p:spPr>
          <a:xfrm>
            <a:off x="5715000" y="2286000"/>
            <a:ext cx="5943600" cy="3448050"/>
          </a:xfrm>
          <a:prstGeom prst="snip2SameRect">
            <a:avLst/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grpSp>
        <p:nvGrpSpPr>
          <p:cNvPr id="19" name="strategy-lifecycle"/>
          <p:cNvGrpSpPr/>
          <p:nvPr/>
        </p:nvGrpSpPr>
        <p:grpSpPr>
          <a:xfrm>
            <a:off x="6334125" y="2974975"/>
            <a:ext cx="3521209" cy="2087118"/>
            <a:chOff x="6334125" y="2974975"/>
            <a:chExt cx="3521209" cy="2087118"/>
          </a:xfrm>
        </p:grpSpPr>
        <p:sp>
          <p:nvSpPr>
            <p:cNvPr id="8" name="Line 8"/>
            <p:cNvSpPr/>
            <p:nvPr/>
          </p:nvSpPr>
          <p:spPr>
            <a:xfrm>
              <a:off x="6391275" y="3152775"/>
              <a:ext cx="9525" cy="1666875"/>
            </a:xfrm>
            <a:custGeom>
              <a:avLst/>
              <a:gdLst/>
              <a:ahLst/>
              <a:cxnLst/>
              <a:rect l="l" t="t" r="r" b="b"/>
              <a:pathLst>
                <a:path w="9525" h="1666875">
                  <a:moveTo>
                    <a:pt x="0" y="0"/>
                  </a:moveTo>
                  <a:lnTo>
                    <a:pt x="0" y="16668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334125" y="30956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334125" y="35147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334125" y="39338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334125" y="43529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334125" y="47720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66357" y="297497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模型路由与任务规划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6357" y="3394075"/>
              <a:ext cx="30281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工具调用与可复用 Skills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6357" y="3813175"/>
              <a:ext cx="3188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委派专业 Agent 并行工作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6357" y="423227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记忆与持久任务状态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6357" y="465137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定时运行与策略复盘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10610850" y="5143500"/>
            <a:ext cx="609600" cy="2286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515112" y="441325"/>
            <a:ext cx="4151376" cy="1713738"/>
            <a:chOff x="515112" y="441325"/>
            <a:chExt cx="4151376" cy="1713738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1325"/>
              <a:ext cx="2071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Arial Unicode MS"/>
                  <a:cs typeface="Consolas"/>
                </a:rPr>
                <a:t>03 / 多智能体团队协同编排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60425"/>
              <a:ext cx="4151376" cy="1294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多智能体团队</a:t>
              </a:r>
              <a:b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</a:br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并行协作，协同决策</a:t>
              </a:r>
            </a:p>
          </p:txBody>
        </p:sp>
      </p:grpSp>
      <p:grpSp>
        <p:nvGrpSpPr>
          <p:cNvPr id="6" name="team-companion"/>
          <p:cNvGrpSpPr/>
          <p:nvPr/>
        </p:nvGrpSpPr>
        <p:grpSpPr>
          <a:xfrm>
            <a:off x="785812" y="2352675"/>
            <a:ext cx="2847975" cy="2847975"/>
            <a:chOff x="785812" y="2352675"/>
            <a:chExt cx="2847975" cy="284797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5812" y="2352675"/>
              <a:ext cx="2847975" cy="2847975"/>
            </a:xfrm>
            <a:prstGeom prst="rect">
              <a:avLst/>
            </a:prstGeom>
          </p:spPr>
        </p:pic>
      </p:grpSp>
      <p:grpSp>
        <p:nvGrpSpPr>
          <p:cNvPr id="22" name="team-task-graph"/>
          <p:cNvGrpSpPr/>
          <p:nvPr/>
        </p:nvGrpSpPr>
        <p:grpSpPr>
          <a:xfrm>
            <a:off x="4457700" y="2400300"/>
            <a:ext cx="7010400" cy="3124200"/>
            <a:chOff x="4457700" y="2400300"/>
            <a:chExt cx="7010400" cy="3124200"/>
          </a:xfrm>
        </p:grpSpPr>
        <p:grpSp>
          <p:nvGrpSpPr>
            <p:cNvPr id="11" name="research-lanes"/>
            <p:cNvGrpSpPr/>
            <p:nvPr/>
          </p:nvGrpSpPr>
          <p:grpSpPr>
            <a:xfrm>
              <a:off x="4457700" y="2400300"/>
              <a:ext cx="7010400" cy="800100"/>
              <a:chOff x="4457700" y="2400300"/>
              <a:chExt cx="7010400" cy="8001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4457700" y="2400300"/>
                <a:ext cx="3314700" cy="8001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153400" y="2400300"/>
                <a:ext cx="3314700" cy="8001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4677156" y="2670143"/>
                <a:ext cx="247678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E9EBF2"/>
                    </a:solidFill>
                    <a:latin typeface="Arial"/>
                    <a:ea typeface="Microsoft YaHei"/>
                    <a:cs typeface="Arial"/>
                  </a:rPr>
                  <a:t>流动性研究 Agent</a:t>
                </a:r>
              </a:p>
            </p:txBody>
          </p:sp>
          <p:sp>
            <p:nvSpPr>
              <p:cNvPr id="10" name="TextBox 10"/>
              <p:cNvSpPr/>
              <p:nvPr/>
            </p:nvSpPr>
            <p:spPr>
              <a:xfrm>
                <a:off x="8372856" y="2670143"/>
                <a:ext cx="247678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E9EBF2"/>
                    </a:solidFill>
                    <a:latin typeface="Arial"/>
                    <a:ea typeface="Microsoft YaHei"/>
                    <a:cs typeface="Arial"/>
                  </a:rPr>
                  <a:t>行情研究 Agent</a:t>
                </a:r>
              </a:p>
            </p:txBody>
          </p:sp>
        </p:grpSp>
        <p:grpSp>
          <p:nvGrpSpPr>
            <p:cNvPr id="15" name="dependency-edges"/>
            <p:cNvGrpSpPr/>
            <p:nvPr/>
          </p:nvGrpSpPr>
          <p:grpSpPr>
            <a:xfrm>
              <a:off x="6115050" y="3200400"/>
              <a:ext cx="3695700" cy="1438275"/>
              <a:chOff x="6115050" y="3200400"/>
              <a:chExt cx="3695700" cy="1438275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115050" y="3200400"/>
                <a:ext cx="1466850" cy="26670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13" name="Line 13"/>
              <p:cNvSpPr/>
              <p:nvPr/>
            </p:nvSpPr>
            <p:spPr>
              <a:xfrm flipH="1">
                <a:off x="8648700" y="3200400"/>
                <a:ext cx="1162050" cy="26670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8267700" y="4314825"/>
                <a:ext cx="1" cy="32385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  <p:grpSp>
          <p:nvGrpSpPr>
            <p:cNvPr id="18" name="review-tasks"/>
            <p:cNvGrpSpPr/>
            <p:nvPr/>
          </p:nvGrpSpPr>
          <p:grpSpPr>
            <a:xfrm>
              <a:off x="5029200" y="3476625"/>
              <a:ext cx="6438900" cy="838200"/>
              <a:chOff x="5029200" y="3476625"/>
              <a:chExt cx="6438900" cy="8382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029200" y="3476625"/>
                <a:ext cx="6438900" cy="838200"/>
              </a:xfrm>
              <a:prstGeom prst="roundRect">
                <a:avLst>
                  <a:gd name="adj" fmla="val 13636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/>
              <p:nvPr/>
            </p:nvSpPr>
            <p:spPr>
              <a:xfrm>
                <a:off x="5247132" y="3736943"/>
                <a:ext cx="232419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rgbClr val="E9EBF2"/>
                    </a:solidFill>
                    <a:latin typeface="Arial"/>
                    <a:ea typeface="Microsoft YaHei"/>
                    <a:cs typeface="Arial"/>
                  </a:rPr>
                  <a:t>风险研究 Agent</a:t>
                </a:r>
              </a:p>
            </p:txBody>
          </p:sp>
        </p:grpSp>
        <p:grpSp>
          <p:nvGrpSpPr>
            <p:cNvPr id="21" name="lead-synthesis"/>
            <p:cNvGrpSpPr/>
            <p:nvPr/>
          </p:nvGrpSpPr>
          <p:grpSpPr>
            <a:xfrm>
              <a:off x="5029200" y="4667250"/>
              <a:ext cx="6438900" cy="857250"/>
              <a:chOff x="5029200" y="4667250"/>
              <a:chExt cx="6438900" cy="857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029200" y="4667250"/>
                <a:ext cx="6438900" cy="857250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0" name="TextBox 20"/>
              <p:cNvSpPr/>
              <p:nvPr/>
            </p:nvSpPr>
            <p:spPr>
              <a:xfrm>
                <a:off x="5247132" y="4937093"/>
                <a:ext cx="315610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rgbClr val="E9EBF2"/>
                    </a:solidFill>
                    <a:latin typeface="Arial"/>
                    <a:ea typeface="Microsoft YaHei"/>
                    <a:cs typeface="Arial"/>
                  </a:rPr>
                  <a:t>Lead Agent → 汇总报告</a:t>
                </a:r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515112" y="441293"/>
            <a:ext cx="3694176" cy="1713738"/>
            <a:chOff x="515112" y="441293"/>
            <a:chExt cx="3694176" cy="1713738"/>
          </a:xfrm>
        </p:grpSpPr>
        <p:sp>
          <p:nvSpPr>
            <p:cNvPr id="2" name="TextBox 2"/>
            <p:cNvSpPr/>
            <p:nvPr/>
          </p:nvSpPr>
          <p:spPr>
            <a:xfrm>
              <a:off x="527304" y="441293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48BFF"/>
                  </a:solidFill>
                  <a:latin typeface="Consolas"/>
                  <a:ea typeface="Microsoft YaHei"/>
                  <a:cs typeface="Consolas"/>
                </a:rPr>
                <a:t>04 / AVALANCHE 策略创建与验证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15112" y="860393"/>
              <a:ext cx="3694176" cy="1294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3600" b="1" dirty="0">
                  <a:solidFill>
                    <a:srgbClr val="E9EBF2"/>
                  </a:solidFill>
                  <a:latin typeface="Arial Black"/>
                  <a:ea typeface="Microsoft YaHei"/>
                  <a:cs typeface="Arial Black"/>
                </a:rPr>
                <a:t>从策略需求到验证</a:t>
              </a:r>
              <a:br>
                <a:rPr lang="zh-CN" sz="3600" b="1" dirty="0">
                  <a:solidFill>
                    <a:srgbClr val="E9EBF2"/>
                  </a:solidFill>
                  <a:latin typeface="Arial Black"/>
                  <a:ea typeface="Microsoft YaHei"/>
                  <a:cs typeface="Arial Black"/>
                </a:rPr>
              </a:br>
              <a:r>
                <a:rPr lang="zh-CN" sz="3600" b="1" dirty="0">
                  <a:solidFill>
                    <a:srgbClr val="E9EBF2"/>
                  </a:solidFill>
                  <a:latin typeface="Arial Black"/>
                  <a:ea typeface="Microsoft YaHei"/>
                  <a:cs typeface="Arial Black"/>
                </a:rPr>
                <a:t>聚焦 Avalanche</a:t>
              </a:r>
            </a:p>
          </p:txBody>
        </p:sp>
      </p:grpSp>
      <p:grpSp>
        <p:nvGrpSpPr>
          <p:cNvPr id="25" name="market-categories"/>
          <p:cNvGrpSpPr/>
          <p:nvPr/>
        </p:nvGrpSpPr>
        <p:grpSpPr>
          <a:xfrm>
            <a:off x="521208" y="2238375"/>
            <a:ext cx="11137392" cy="3581400"/>
            <a:chOff x="521208" y="2238375"/>
            <a:chExt cx="11137392" cy="3581400"/>
          </a:xfrm>
        </p:grpSpPr>
        <p:grpSp>
          <p:nvGrpSpPr>
            <p:cNvPr id="9" name="market-field"/>
            <p:cNvGrpSpPr/>
            <p:nvPr/>
          </p:nvGrpSpPr>
          <p:grpSpPr>
            <a:xfrm>
              <a:off x="533400" y="2638425"/>
              <a:ext cx="11125200" cy="3181350"/>
              <a:chOff x="533400" y="2638425"/>
              <a:chExt cx="11125200" cy="3181350"/>
            </a:xfrm>
          </p:grpSpPr>
          <p:sp>
            <p:nvSpPr>
              <p:cNvPr id="5" name="Line 5"/>
              <p:cNvSpPr/>
              <p:nvPr/>
            </p:nvSpPr>
            <p:spPr>
              <a:xfrm>
                <a:off x="533400" y="40576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6172200" y="2638425"/>
                <a:ext cx="9525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81350">
                    <a:moveTo>
                      <a:pt x="0" y="0"/>
                    </a:moveTo>
                    <a:lnTo>
                      <a:pt x="0" y="31813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5934075" y="3819525"/>
                <a:ext cx="476250" cy="476250"/>
              </a:xfrm>
              <a:prstGeom prst="ellipse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6096000" y="39814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2" name="execution-modes"/>
            <p:cNvGrpSpPr/>
            <p:nvPr/>
          </p:nvGrpSpPr>
          <p:grpSpPr>
            <a:xfrm>
              <a:off x="533400" y="2238375"/>
              <a:ext cx="11125200" cy="374269"/>
              <a:chOff x="533400" y="2238375"/>
              <a:chExt cx="11125200" cy="374269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33400" y="2238375"/>
                <a:ext cx="11125200" cy="3238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95706" y="2260600"/>
                <a:ext cx="350658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脚本 / 脚本 + Agent / Agent 驱动</a:t>
                </a:r>
              </a:p>
            </p:txBody>
          </p:sp>
        </p:grpSp>
        <p:grpSp>
          <p:nvGrpSpPr>
            <p:cNvPr id="15" name="meme"/>
            <p:cNvGrpSpPr/>
            <p:nvPr/>
          </p:nvGrpSpPr>
          <p:grpSpPr>
            <a:xfrm>
              <a:off x="521208" y="2898743"/>
              <a:ext cx="3413760" cy="866394"/>
              <a:chOff x="521208" y="2898743"/>
              <a:chExt cx="3413760" cy="866394"/>
            </a:xfrm>
          </p:grpSpPr>
          <p:sp>
            <p:nvSpPr>
              <p:cNvPr id="13" name="TextBox 13"/>
              <p:cNvSpPr/>
              <p:nvPr/>
            </p:nvSpPr>
            <p:spPr>
              <a:xfrm>
                <a:off x="521208" y="2898743"/>
                <a:ext cx="269214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dirty="0">
                    <a:solidFill>
                      <a:srgbClr val="B48BFF"/>
                    </a:solidFill>
                    <a:latin typeface="Arial Black"/>
                    <a:ea typeface="Microsoft YaHei"/>
                    <a:cs typeface="Arial Black"/>
                  </a:rPr>
                  <a:t>LFJ 池策略</a:t>
                </a:r>
              </a:p>
            </p:txBody>
          </p:sp>
          <p:sp>
            <p:nvSpPr>
              <p:cNvPr id="14" name="TextBox 14"/>
              <p:cNvSpPr/>
              <p:nvPr/>
            </p:nvSpPr>
            <p:spPr>
              <a:xfrm>
                <a:off x="524256" y="3413093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rgbClr val="E9EBF2"/>
                    </a:solidFill>
                    <a:latin typeface="Arial"/>
                    <a:ea typeface="Microsoft YaHei"/>
                    <a:cs typeface="Arial"/>
                  </a:rPr>
                  <a:t>预算 $1,000，区间 ±10%。</a:t>
                </a:r>
              </a:p>
            </p:txBody>
          </p:sp>
        </p:grpSp>
        <p:grpSp>
          <p:nvGrpSpPr>
            <p:cNvPr id="18" name="perps"/>
            <p:cNvGrpSpPr/>
            <p:nvPr/>
          </p:nvGrpSpPr>
          <p:grpSpPr>
            <a:xfrm>
              <a:off x="6617208" y="2898743"/>
              <a:ext cx="3413760" cy="866394"/>
              <a:chOff x="6617208" y="2898743"/>
              <a:chExt cx="3413760" cy="866394"/>
            </a:xfrm>
          </p:grpSpPr>
          <p:sp>
            <p:nvSpPr>
              <p:cNvPr id="16" name="TextBox 16"/>
              <p:cNvSpPr/>
              <p:nvPr/>
            </p:nvSpPr>
            <p:spPr>
              <a:xfrm>
                <a:off x="6617208" y="2898743"/>
                <a:ext cx="2404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dirty="0">
                    <a:solidFill>
                      <a:srgbClr val="B48BFF"/>
                    </a:solidFill>
                    <a:latin typeface="Arial Black"/>
                    <a:ea typeface="Microsoft YaHei"/>
                    <a:cs typeface="Arial Black"/>
                  </a:rPr>
                  <a:t>AVAX 趋势</a:t>
                </a:r>
              </a:p>
            </p:txBody>
          </p:sp>
          <p:sp>
            <p:nvSpPr>
              <p:cNvPr id="17" name="TextBox 17"/>
              <p:cNvSpPr/>
              <p:nvPr/>
            </p:nvSpPr>
            <p:spPr>
              <a:xfrm>
                <a:off x="6620256" y="3413093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rgbClr val="E9EBF2"/>
                    </a:solidFill>
                    <a:latin typeface="Arial"/>
                    <a:ea typeface="Microsoft YaHei"/>
                    <a:cs typeface="Arial"/>
                  </a:rPr>
                  <a:t>20 日突破 / 10 日退出，$500。</a:t>
                </a:r>
              </a:p>
            </p:txBody>
          </p:sp>
        </p:grpSp>
        <p:grpSp>
          <p:nvGrpSpPr>
            <p:cNvPr id="21" name="liquidity"/>
            <p:cNvGrpSpPr/>
            <p:nvPr/>
          </p:nvGrpSpPr>
          <p:grpSpPr>
            <a:xfrm>
              <a:off x="521208" y="4784693"/>
              <a:ext cx="3656076" cy="866394"/>
              <a:chOff x="521208" y="4784693"/>
              <a:chExt cx="3656076" cy="866394"/>
            </a:xfrm>
          </p:grpSpPr>
          <p:sp>
            <p:nvSpPr>
              <p:cNvPr id="19" name="TextBox 19"/>
              <p:cNvSpPr/>
              <p:nvPr/>
            </p:nvSpPr>
            <p:spPr>
              <a:xfrm>
                <a:off x="521208" y="4784693"/>
                <a:ext cx="191414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dirty="0">
                    <a:solidFill>
                      <a:srgbClr val="B48BFF"/>
                    </a:solidFill>
                    <a:latin typeface="Arial Black"/>
                    <a:ea typeface="Microsoft YaHei"/>
                    <a:cs typeface="Arial Black"/>
                  </a:rPr>
                  <a:t>LP 观察</a:t>
                </a:r>
              </a:p>
            </p:txBody>
          </p:sp>
          <p:sp>
            <p:nvSpPr>
              <p:cNvPr id="20" name="TextBox 20"/>
              <p:cNvSpPr/>
              <p:nvPr/>
            </p:nvSpPr>
            <p:spPr>
              <a:xfrm>
                <a:off x="524256" y="5299043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rgbClr val="E9EBF2"/>
                    </a:solidFill>
                    <a:latin typeface="Arial"/>
                    <a:ea typeface="Microsoft YaHei"/>
                    <a:cs typeface="Arial"/>
                  </a:rPr>
                  <a:t>3 项测试通过，不执行加减仓。</a:t>
                </a:r>
              </a:p>
            </p:txBody>
          </p:sp>
        </p:grpSp>
        <p:grpSp>
          <p:nvGrpSpPr>
            <p:cNvPr id="24" name="equities"/>
            <p:cNvGrpSpPr/>
            <p:nvPr/>
          </p:nvGrpSpPr>
          <p:grpSpPr>
            <a:xfrm>
              <a:off x="6617208" y="4784693"/>
              <a:ext cx="2929128" cy="866394"/>
              <a:chOff x="6617208" y="4784693"/>
              <a:chExt cx="2929128" cy="866394"/>
            </a:xfrm>
          </p:grpSpPr>
          <p:sp>
            <p:nvSpPr>
              <p:cNvPr id="22" name="TextBox 22"/>
              <p:cNvSpPr/>
              <p:nvPr/>
            </p:nvSpPr>
            <p:spPr>
              <a:xfrm>
                <a:off x="6617208" y="4784693"/>
                <a:ext cx="19629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dirty="0">
                    <a:solidFill>
                      <a:srgbClr val="B48BFF"/>
                    </a:solidFill>
                    <a:latin typeface="Arial Black"/>
                    <a:ea typeface="Microsoft YaHei"/>
                    <a:cs typeface="Arial Black"/>
                  </a:rPr>
                  <a:t>纸面回放</a:t>
                </a:r>
              </a:p>
            </p:txBody>
          </p:sp>
          <p:sp>
            <p:nvSpPr>
              <p:cNvPr id="23" name="TextBox 23"/>
              <p:cNvSpPr/>
              <p:nvPr/>
            </p:nvSpPr>
            <p:spPr>
              <a:xfrm>
                <a:off x="6620256" y="5299043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rgbClr val="E9EBF2"/>
                    </a:solidFill>
                    <a:latin typeface="Arial"/>
                    <a:ea typeface="Microsoft YaHei"/>
                    <a:cs typeface="Arial"/>
                  </a:rPr>
                  <a:t>180 日线 / 2 笔模拟交易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gradFill>
          <a:gsLst>
            <a:gs pos="0">
              <a:srgbClr val="5B21B6"/>
            </a:gs>
            <a:gs pos="100000">
              <a:schemeClr val="l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515112" y="441325"/>
            <a:ext cx="3236976" cy="1713738"/>
            <a:chOff x="515112" y="441325"/>
            <a:chExt cx="3236976" cy="1713738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1325"/>
              <a:ext cx="1587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onsolas"/>
                  <a:ea typeface="Arial Unicode MS"/>
                  <a:cs typeface="Consolas"/>
                </a:rPr>
                <a:t>05 / 策略自进化机制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60425"/>
              <a:ext cx="3236976" cy="1294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让策略在复盘中</a:t>
              </a:r>
              <a:b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</a:br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持续进化</a:t>
              </a:r>
            </a:p>
          </p:txBody>
        </p:sp>
      </p:grpSp>
      <p:grpSp>
        <p:nvGrpSpPr>
          <p:cNvPr id="6" name="evolving-companion"/>
          <p:cNvGrpSpPr/>
          <p:nvPr/>
        </p:nvGrpSpPr>
        <p:grpSpPr>
          <a:xfrm>
            <a:off x="890588" y="2190750"/>
            <a:ext cx="3857625" cy="3857625"/>
            <a:chOff x="890588" y="2190750"/>
            <a:chExt cx="3857625" cy="385762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0588" y="2190750"/>
              <a:ext cx="3857625" cy="3857625"/>
            </a:xfrm>
            <a:prstGeom prst="rect">
              <a:avLst/>
            </a:prstGeom>
          </p:spPr>
        </p:pic>
      </p:grpSp>
      <p:grpSp>
        <p:nvGrpSpPr>
          <p:cNvPr id="8" name="review-intent"/>
          <p:cNvGrpSpPr/>
          <p:nvPr/>
        </p:nvGrpSpPr>
        <p:grpSpPr>
          <a:xfrm>
            <a:off x="5723382" y="2374900"/>
            <a:ext cx="2565654" cy="410718"/>
            <a:chOff x="5723382" y="2374900"/>
            <a:chExt cx="2565654" cy="410718"/>
          </a:xfrm>
        </p:grpSpPr>
        <p:sp>
          <p:nvSpPr>
            <p:cNvPr id="7" name="TextBox 7"/>
            <p:cNvSpPr txBox="1"/>
            <p:nvPr/>
          </p:nvSpPr>
          <p:spPr>
            <a:xfrm>
              <a:off x="5723382" y="237490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市场变化，策略迭代</a:t>
              </a:r>
            </a:p>
          </p:txBody>
        </p:sp>
      </p:grpSp>
      <p:cxnSp>
        <p:nvCxnSpPr>
          <p:cNvPr id="9" name="Freeform 9"/>
          <p:cNvCxnSpPr/>
          <p:nvPr/>
        </p:nvCxnSpPr>
        <p:spPr>
          <a:xfrm>
            <a:off x="5619750" y="3219450"/>
            <a:ext cx="438150" cy="2171700"/>
          </a:xfrm>
          <a:prstGeom prst="bentConnector3">
            <a:avLst/>
          </a:prstGeom>
          <a:noFill/>
          <a:ln w="19050">
            <a:solidFill>
              <a:schemeClr val="accent2"/>
            </a:solidFill>
          </a:ln>
        </p:spPr>
      </p:cxnSp>
      <p:grpSp>
        <p:nvGrpSpPr>
          <p:cNvPr id="28" name="review-loop"/>
          <p:cNvGrpSpPr/>
          <p:nvPr/>
        </p:nvGrpSpPr>
        <p:grpSpPr>
          <a:xfrm>
            <a:off x="5619750" y="3041650"/>
            <a:ext cx="4647819" cy="2582386"/>
            <a:chOff x="5619750" y="3041650"/>
            <a:chExt cx="4647819" cy="2582386"/>
          </a:xfrm>
        </p:grpSpPr>
        <p:sp>
          <p:nvSpPr>
            <p:cNvPr id="10" name="Line 10"/>
            <p:cNvSpPr/>
            <p:nvPr/>
          </p:nvSpPr>
          <p:spPr>
            <a:xfrm>
              <a:off x="5619750" y="3219450"/>
              <a:ext cx="514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6267450" y="3276600"/>
              <a:ext cx="9525" cy="2038350"/>
            </a:xfrm>
            <a:custGeom>
              <a:avLst/>
              <a:gdLst/>
              <a:ahLst/>
              <a:cxnLst/>
              <a:rect l="l" t="t" r="r" b="b"/>
              <a:pathLst>
                <a:path w="9525" h="2038350">
                  <a:moveTo>
                    <a:pt x="0" y="0"/>
                  </a:moveTo>
                  <a:lnTo>
                    <a:pt x="0" y="20383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57900" y="53911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2095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15" name="evidence"/>
            <p:cNvGrpSpPr/>
            <p:nvPr/>
          </p:nvGrpSpPr>
          <p:grpSpPr>
            <a:xfrm>
              <a:off x="6210300" y="3041650"/>
              <a:ext cx="3491865" cy="410718"/>
              <a:chOff x="6210300" y="3041650"/>
              <a:chExt cx="3491865" cy="410718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6210300" y="31623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571107" y="3041650"/>
                <a:ext cx="313105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读取市场与策略运行历史</a:t>
                </a:r>
              </a:p>
            </p:txBody>
          </p:sp>
        </p:grpSp>
        <p:grpSp>
          <p:nvGrpSpPr>
            <p:cNvPr id="18" name="review"/>
            <p:cNvGrpSpPr/>
            <p:nvPr/>
          </p:nvGrpSpPr>
          <p:grpSpPr>
            <a:xfrm>
              <a:off x="6210300" y="3584575"/>
              <a:ext cx="3549784" cy="410718"/>
              <a:chOff x="6210300" y="3584575"/>
              <a:chExt cx="3549784" cy="410718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210300" y="370522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571107" y="3584575"/>
                <a:ext cx="318897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复盘 Agent 提出改进方案</a:t>
                </a:r>
              </a:p>
            </p:txBody>
          </p:sp>
        </p:grpSp>
        <p:grpSp>
          <p:nvGrpSpPr>
            <p:cNvPr id="21" name="proposal"/>
            <p:cNvGrpSpPr/>
            <p:nvPr/>
          </p:nvGrpSpPr>
          <p:grpSpPr>
            <a:xfrm>
              <a:off x="6210300" y="4127500"/>
              <a:ext cx="2361057" cy="410718"/>
              <a:chOff x="6210300" y="4127500"/>
              <a:chExt cx="2361057" cy="410718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6210300" y="42481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571107" y="412750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生成下一版策略</a:t>
                </a:r>
              </a:p>
            </p:txBody>
          </p:sp>
        </p:grpSp>
        <p:grpSp>
          <p:nvGrpSpPr>
            <p:cNvPr id="24" name="validation"/>
            <p:cNvGrpSpPr/>
            <p:nvPr/>
          </p:nvGrpSpPr>
          <p:grpSpPr>
            <a:xfrm>
              <a:off x="6210300" y="4670425"/>
              <a:ext cx="1795653" cy="410718"/>
              <a:chOff x="6210300" y="4670425"/>
              <a:chExt cx="1795653" cy="410718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210300" y="479107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571107" y="4670425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回测与批准</a:t>
                </a:r>
              </a:p>
            </p:txBody>
          </p:sp>
        </p:grpSp>
        <p:grpSp>
          <p:nvGrpSpPr>
            <p:cNvPr id="27" name="observation"/>
            <p:cNvGrpSpPr/>
            <p:nvPr/>
          </p:nvGrpSpPr>
          <p:grpSpPr>
            <a:xfrm>
              <a:off x="6210300" y="5213318"/>
              <a:ext cx="4057269" cy="410718"/>
              <a:chOff x="6210300" y="5213318"/>
              <a:chExt cx="4057269" cy="410718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210300" y="53340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6" name="TextBox 26"/>
              <p:cNvSpPr/>
              <p:nvPr/>
            </p:nvSpPr>
            <p:spPr>
              <a:xfrm>
                <a:off x="6571107" y="5213318"/>
                <a:ext cx="36964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100" dirty="0">
                    <a:solidFill>
                      <a:srgbClr val="E9EBF2"/>
                    </a:solidFill>
                    <a:latin typeface="Arial"/>
                    <a:ea typeface="Microsoft YaHei"/>
                    <a:cs typeface="Arial"/>
                  </a:rPr>
                  <a:t>演示调度未启用，实盘关闭</a:t>
                </a:r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515112" y="441325"/>
            <a:ext cx="3694176" cy="1713738"/>
            <a:chOff x="515112" y="441325"/>
            <a:chExt cx="3694176" cy="1713738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1325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Arial Unicode MS"/>
                  <a:cs typeface="Consolas"/>
                </a:rPr>
                <a:t>06 / 多智能体投研与定制视图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60425"/>
              <a:ext cx="3694176" cy="1294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多智能体深度投研</a:t>
              </a:r>
              <a:b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</a:br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定制你的分析看板</a:t>
              </a:r>
            </a:p>
          </p:txBody>
        </p:sp>
      </p:grpSp>
      <p:grpSp>
        <p:nvGrpSpPr>
          <p:cNvPr id="6" name="research-team"/>
          <p:cNvGrpSpPr/>
          <p:nvPr/>
        </p:nvGrpSpPr>
        <p:grpSpPr>
          <a:xfrm>
            <a:off x="1052512" y="2200275"/>
            <a:ext cx="2733675" cy="2733675"/>
            <a:chOff x="1052512" y="2200275"/>
            <a:chExt cx="2733675" cy="273367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2512" y="2200275"/>
              <a:ext cx="2733675" cy="2733675"/>
            </a:xfrm>
            <a:prstGeom prst="rect">
              <a:avLst/>
            </a:prstGeom>
          </p:spPr>
        </p:pic>
      </p:grpSp>
      <p:grpSp>
        <p:nvGrpSpPr>
          <p:cNvPr id="10" name="research-output"/>
          <p:cNvGrpSpPr/>
          <p:nvPr/>
        </p:nvGrpSpPr>
        <p:grpSpPr>
          <a:xfrm>
            <a:off x="4648200" y="2228850"/>
            <a:ext cx="7010400" cy="4059841"/>
            <a:chOff x="4648200" y="2228850"/>
            <a:chExt cx="7010400" cy="4059841"/>
          </a:xfrm>
        </p:grpSpPr>
        <p:sp>
          <p:nvSpPr>
            <p:cNvPr id="7" name="Rectangle 7"/>
            <p:cNvSpPr/>
            <p:nvPr/>
          </p:nvSpPr>
          <p:spPr>
            <a:xfrm>
              <a:off x="4648200" y="2228850"/>
              <a:ext cx="7010400" cy="3810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2088" y="2333625"/>
              <a:ext cx="5762625" cy="3600450"/>
            </a:xfrm>
            <a:prstGeom prst="rect">
              <a:avLst/>
            </a:prstGeom>
          </p:spPr>
        </p:pic>
        <p:sp>
          <p:nvSpPr>
            <p:cNvPr id="9" name="TextBox 9"/>
            <p:cNvSpPr/>
            <p:nvPr/>
          </p:nvSpPr>
          <p:spPr>
            <a:xfrm>
              <a:off x="4757166" y="6083332"/>
              <a:ext cx="2476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A3ACC0"/>
                  </a:solidFill>
                  <a:latin typeface="Arial"/>
                  <a:ea typeface="Microsoft YaHei"/>
                  <a:cs typeface="Arial"/>
                </a:rPr>
                <a:t>真实 AVAX 看板 · 已应用</a:t>
              </a:r>
            </a:p>
          </p:txBody>
        </p:sp>
      </p:grpSp>
      <p:grpSp>
        <p:nvGrpSpPr>
          <p:cNvPr id="14" name="research-flow"/>
          <p:cNvGrpSpPr/>
          <p:nvPr/>
        </p:nvGrpSpPr>
        <p:grpSpPr>
          <a:xfrm>
            <a:off x="524256" y="5089493"/>
            <a:ext cx="3075242" cy="1066419"/>
            <a:chOff x="524256" y="5089493"/>
            <a:chExt cx="3075242" cy="1066419"/>
          </a:xfrm>
        </p:grpSpPr>
        <p:sp>
          <p:nvSpPr>
            <p:cNvPr id="11" name="TextBox 11"/>
            <p:cNvSpPr/>
            <p:nvPr/>
          </p:nvSpPr>
          <p:spPr>
            <a:xfrm>
              <a:off x="524256" y="5089493"/>
              <a:ext cx="2387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22D3EE"/>
                  </a:solidFill>
                  <a:latin typeface="Arial"/>
                  <a:ea typeface="Microsoft YaHei"/>
                  <a:cs typeface="Arial"/>
                </a:rPr>
                <a:t>池子 · 行情 · 风险审视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524256" y="5441918"/>
              <a:ext cx="3075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E9EBF2"/>
                  </a:solidFill>
                  <a:latin typeface="Arial"/>
                  <a:ea typeface="Microsoft YaHei"/>
                  <a:cs typeface="Arial"/>
                </a:rPr>
                <a:t>三个成员并行，Lead 汇总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524256" y="5803868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A3ACC0"/>
                  </a:solidFill>
                  <a:latin typeface="Arial"/>
                  <a:ea typeface="Microsoft YaHei"/>
                  <a:cs typeface="Arial"/>
                </a:rPr>
                <a:t>报告与策略看板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15112" y="441325"/>
            <a:ext cx="4667793" cy="1713738"/>
            <a:chOff x="515112" y="441325"/>
            <a:chExt cx="4667793" cy="1713738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1325"/>
              <a:ext cx="2804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Arial Unicode MS"/>
                  <a:cs typeface="Consolas"/>
                </a:rPr>
                <a:t>07 / VAULT 凭据与 Agent 访问边界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60425"/>
              <a:ext cx="466779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Agent 使用凭据引用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5112" y="1450975"/>
              <a:ext cx="452652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Vault 保管敏感密钥</a:t>
              </a:r>
            </a:p>
          </p:txBody>
        </p:sp>
      </p:grpSp>
      <p:grpSp>
        <p:nvGrpSpPr>
          <p:cNvPr id="32" name="credential-boundary"/>
          <p:cNvGrpSpPr/>
          <p:nvPr/>
        </p:nvGrpSpPr>
        <p:grpSpPr>
          <a:xfrm>
            <a:off x="525018" y="2743200"/>
            <a:ext cx="7171182" cy="2533650"/>
            <a:chOff x="525018" y="2743200"/>
            <a:chExt cx="7171182" cy="2533650"/>
          </a:xfrm>
        </p:grpSpPr>
        <p:grpSp>
          <p:nvGrpSpPr>
            <p:cNvPr id="9" name="agent"/>
            <p:cNvGrpSpPr/>
            <p:nvPr/>
          </p:nvGrpSpPr>
          <p:grpSpPr>
            <a:xfrm>
              <a:off x="533400" y="2743200"/>
              <a:ext cx="1905000" cy="857250"/>
              <a:chOff x="533400" y="2743200"/>
              <a:chExt cx="1905000" cy="857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2743200"/>
                <a:ext cx="19050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94182" y="2813050"/>
                <a:ext cx="83129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Agent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97230" y="3194050"/>
                <a:ext cx="14739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vault:// 凭据引用</a:t>
                </a:r>
              </a:p>
            </p:txBody>
          </p:sp>
        </p:grpSp>
        <p:grpSp>
          <p:nvGrpSpPr>
            <p:cNvPr id="13" name="runtime"/>
            <p:cNvGrpSpPr/>
            <p:nvPr/>
          </p:nvGrpSpPr>
          <p:grpSpPr>
            <a:xfrm>
              <a:off x="3009900" y="2743200"/>
              <a:ext cx="2133600" cy="857250"/>
              <a:chOff x="3009900" y="2743200"/>
              <a:chExt cx="2133600" cy="8572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3009900" y="2743200"/>
                <a:ext cx="21336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170682" y="2813050"/>
                <a:ext cx="869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运行时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173730" y="31940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检查访问范围</a:t>
                </a:r>
              </a:p>
            </p:txBody>
          </p:sp>
        </p:grpSp>
        <p:grpSp>
          <p:nvGrpSpPr>
            <p:cNvPr id="17" name="connector"/>
            <p:cNvGrpSpPr/>
            <p:nvPr/>
          </p:nvGrpSpPr>
          <p:grpSpPr>
            <a:xfrm>
              <a:off x="5676900" y="2743200"/>
              <a:ext cx="2019300" cy="857250"/>
              <a:chOff x="5676900" y="2743200"/>
              <a:chExt cx="2019300" cy="8572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676900" y="2743200"/>
                <a:ext cx="20193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837682" y="2813050"/>
                <a:ext cx="869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连接器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40730" y="3194050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执行获准的工具动作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2476500" y="31813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867025" y="3124200"/>
              <a:ext cx="66675" cy="114300"/>
            </a:xfrm>
            <a:custGeom>
              <a:avLst/>
              <a:gdLst/>
              <a:ahLst/>
              <a:cxnLst/>
              <a:rect l="l" t="t" r="r" b="b"/>
              <a:pathLst>
                <a:path w="66675" h="114300">
                  <a:moveTo>
                    <a:pt x="0" y="0"/>
                  </a:moveTo>
                  <a:lnTo>
                    <a:pt x="66675" y="57150"/>
                  </a:lnTo>
                  <a:lnTo>
                    <a:pt x="0" y="1143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181600" y="31813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34025" y="3124200"/>
              <a:ext cx="66675" cy="114300"/>
            </a:xfrm>
            <a:custGeom>
              <a:avLst/>
              <a:gdLst/>
              <a:ahLst/>
              <a:cxnLst/>
              <a:rect l="l" t="t" r="r" b="b"/>
              <a:pathLst>
                <a:path w="66675" h="114300">
                  <a:moveTo>
                    <a:pt x="0" y="0"/>
                  </a:moveTo>
                  <a:lnTo>
                    <a:pt x="66675" y="57150"/>
                  </a:lnTo>
                  <a:lnTo>
                    <a:pt x="0" y="1143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grpSp>
          <p:nvGrpSpPr>
            <p:cNvPr id="26" name="vault"/>
            <p:cNvGrpSpPr/>
            <p:nvPr/>
          </p:nvGrpSpPr>
          <p:grpSpPr>
            <a:xfrm>
              <a:off x="3009900" y="4171950"/>
              <a:ext cx="2133600" cy="1104900"/>
              <a:chOff x="3009900" y="4171950"/>
              <a:chExt cx="2133600" cy="11049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3009900" y="4171950"/>
                <a:ext cx="2133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241B3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188208" y="4241800"/>
                <a:ext cx="8232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Vault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192780" y="4660900"/>
                <a:ext cx="18779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AES-GCM 静态加密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193542" y="4940300"/>
                <a:ext cx="15083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按 scope 使用凭据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4076700" y="36766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4572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010025" y="3676650"/>
              <a:ext cx="133350" cy="66675"/>
            </a:xfrm>
            <a:custGeom>
              <a:avLst/>
              <a:gdLst/>
              <a:ahLst/>
              <a:cxnLst/>
              <a:rect l="l" t="t" r="r" b="b"/>
              <a:pathLst>
                <a:path w="133350" h="66675">
                  <a:moveTo>
                    <a:pt x="0" y="66675"/>
                  </a:moveTo>
                  <a:lnTo>
                    <a:pt x="66675" y="0"/>
                  </a:lnTo>
                  <a:lnTo>
                    <a:pt x="133350" y="6667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5018" y="41592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敏感密钥加密保存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5018" y="45212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引用进入策略工作流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5018" y="48831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运行时检查访问权限</a:t>
              </a:r>
            </a:p>
          </p:txBody>
        </p:sp>
      </p:grpSp>
      <p:grpSp>
        <p:nvGrpSpPr>
          <p:cNvPr id="34" name="vault-companion"/>
          <p:cNvGrpSpPr/>
          <p:nvPr/>
        </p:nvGrpSpPr>
        <p:grpSpPr>
          <a:xfrm>
            <a:off x="8553450" y="2686050"/>
            <a:ext cx="2628900" cy="2628900"/>
            <a:chOff x="8553450" y="2686050"/>
            <a:chExt cx="2628900" cy="262890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3450" y="2686050"/>
              <a:ext cx="2628900" cy="2628900"/>
            </a:xfrm>
            <a:prstGeom prst="rect">
              <a:avLst/>
            </a:prstGeom>
          </p:spPr>
        </p:pic>
      </p:grpSp>
      <p:grpSp>
        <p:nvGrpSpPr>
          <p:cNvPr id="37" name="live-action-controls"/>
          <p:cNvGrpSpPr/>
          <p:nvPr/>
        </p:nvGrpSpPr>
        <p:grpSpPr>
          <a:xfrm>
            <a:off x="524256" y="5600700"/>
            <a:ext cx="11134344" cy="459994"/>
            <a:chOff x="524256" y="5600700"/>
            <a:chExt cx="11134344" cy="459994"/>
          </a:xfrm>
        </p:grpSpPr>
        <p:sp>
          <p:nvSpPr>
            <p:cNvPr id="35" name="Line 35"/>
            <p:cNvSpPr/>
            <p:nvPr/>
          </p:nvSpPr>
          <p:spPr>
            <a:xfrm>
              <a:off x="533400" y="5600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4256" y="570865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实盘订单仍须经过风控、权限与批准。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515112" y="441325"/>
            <a:ext cx="4088381" cy="1713738"/>
            <a:chOff x="515112" y="441325"/>
            <a:chExt cx="4088381" cy="1713738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1325"/>
              <a:ext cx="1425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21B6"/>
                  </a:solidFill>
                  <a:latin typeface="Consolas"/>
                  <a:ea typeface="Arial Unicode MS"/>
                  <a:cs typeface="Consolas"/>
                </a:rPr>
                <a:t>08 / 未来盈利模式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60425"/>
              <a:ext cx="4088381" cy="1294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3600" b="1" dirty="0">
                  <a:solidFill>
                    <a:srgbClr val="101219"/>
                  </a:solidFill>
                  <a:latin typeface="+mj-lt"/>
                  <a:ea typeface="+mj-ea"/>
                  <a:cs typeface="+mj-cs"/>
                </a:rPr>
                <a:t>AI 会员</a:t>
              </a:r>
              <a:br>
                <a:rPr lang="zh-CN" sz="3600" b="1" dirty="0">
                  <a:solidFill>
                    <a:srgbClr val="1012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3600" b="1" dirty="0">
                  <a:solidFill>
                    <a:srgbClr val="101219"/>
                  </a:solidFill>
                  <a:latin typeface="+mj-lt"/>
                  <a:ea typeface="+mj-ea"/>
                  <a:cs typeface="+mj-cs"/>
                </a:rPr>
                <a:t>与付费 Agent 经济</a:t>
              </a:r>
            </a:p>
          </p:txBody>
        </p:sp>
      </p:grpSp>
      <p:grpSp>
        <p:nvGrpSpPr>
          <p:cNvPr id="7" name="membership-revenue"/>
          <p:cNvGrpSpPr/>
          <p:nvPr/>
        </p:nvGrpSpPr>
        <p:grpSpPr>
          <a:xfrm>
            <a:off x="521208" y="2774950"/>
            <a:ext cx="3149704" cy="2150618"/>
            <a:chOff x="521208" y="2774950"/>
            <a:chExt cx="3149704" cy="2150618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2774950"/>
              <a:ext cx="18074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rgbClr val="101219"/>
                  </a:solidFill>
                  <a:latin typeface="+mj-lt"/>
                  <a:ea typeface="+mj-ea"/>
                  <a:cs typeface="+mj-cs"/>
                </a:rPr>
                <a:t>AI 会员权益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2732" y="3314700"/>
              <a:ext cx="3148180" cy="1610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  <a:t>自带 API 使用额度</a:t>
              </a:r>
              <a:b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  <a:t>更专业的市场数据</a:t>
              </a:r>
              <a:b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  <a:t>专用 RPC 与高级访问权限</a:t>
              </a:r>
              <a:b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  <a:t>通过链上钱包以 x402 付费</a:t>
              </a:r>
            </a:p>
          </p:txBody>
        </p:sp>
      </p:grpSp>
      <p:grpSp>
        <p:nvGrpSpPr>
          <p:cNvPr id="11" name="agent-economy"/>
          <p:cNvGrpSpPr/>
          <p:nvPr/>
        </p:nvGrpSpPr>
        <p:grpSpPr>
          <a:xfrm>
            <a:off x="5143500" y="2686050"/>
            <a:ext cx="4115501" cy="2266950"/>
            <a:chOff x="5143500" y="2686050"/>
            <a:chExt cx="4115501" cy="2266950"/>
          </a:xfrm>
        </p:grpSpPr>
        <p:sp>
          <p:nvSpPr>
            <p:cNvPr id="8" name="Line 8"/>
            <p:cNvSpPr/>
            <p:nvPr/>
          </p:nvSpPr>
          <p:spPr>
            <a:xfrm>
              <a:off x="5143500" y="2686050"/>
              <a:ext cx="9525" cy="2266950"/>
            </a:xfrm>
            <a:custGeom>
              <a:avLst/>
              <a:gdLst/>
              <a:ahLst/>
              <a:cxnLst/>
              <a:rect l="l" t="t" r="r" b="b"/>
              <a:pathLst>
                <a:path w="9525" h="2266950">
                  <a:moveTo>
                    <a:pt x="0" y="0"/>
                  </a:moveTo>
                  <a:lnTo>
                    <a:pt x="0" y="22669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31358" y="2774950"/>
              <a:ext cx="21488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rgbClr val="5B21B6"/>
                  </a:solidFill>
                  <a:latin typeface="+mj-lt"/>
                  <a:ea typeface="+mj-ea"/>
                  <a:cs typeface="+mj-cs"/>
                </a:rPr>
                <a:t>A2A 策略经济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32882" y="3314700"/>
              <a:ext cx="3726119" cy="1610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  <a:t>ERC-8004 Agent 身份与声誉</a:t>
              </a:r>
              <a:b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  <a:t>Agent 互相学习策略与付费论坛</a:t>
              </a:r>
              <a:b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  <a:t>Agent 服务与策略付费交流</a:t>
              </a:r>
              <a:b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101219"/>
                  </a:solidFill>
                  <a:latin typeface="+mn-lt"/>
                  <a:ea typeface="+mn-ea"/>
                  <a:cs typeface="+mn-cs"/>
                </a:rPr>
                <a:t>Nerya 收取市场交易手续费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rgbClr val="5B21B6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208" y="412750"/>
            <a:ext cx="11978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2400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NERYA</a:t>
            </a:r>
          </a:p>
        </p:txBody>
      </p:sp>
      <p:grpSp>
        <p:nvGrpSpPr>
          <p:cNvPr id="6" name="closing-message"/>
          <p:cNvGrpSpPr/>
          <p:nvPr/>
        </p:nvGrpSpPr>
        <p:grpSpPr>
          <a:xfrm>
            <a:off x="514350" y="1597025"/>
            <a:ext cx="5464020" cy="1929987"/>
            <a:chOff x="514350" y="1597025"/>
            <a:chExt cx="5464020" cy="1929987"/>
          </a:xfrm>
        </p:grpSpPr>
        <p:sp>
          <p:nvSpPr>
            <p:cNvPr id="3" name="TextBox 3"/>
            <p:cNvSpPr txBox="1"/>
            <p:nvPr/>
          </p:nvSpPr>
          <p:spPr>
            <a:xfrm>
              <a:off x="514350" y="1597025"/>
              <a:ext cx="340396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试用 Nerya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4350" y="2387600"/>
              <a:ext cx="546402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去 GitHub 点个 Star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24256" y="3174968"/>
              <a:ext cx="4350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A3ACC0"/>
                  </a:solidFill>
                  <a:latin typeface="Arial"/>
                  <a:ea typeface="Microsoft YaHei"/>
                  <a:cs typeface="Arial"/>
                </a:rPr>
                <a:t>试用 Avalanche 版，欢迎点 Star。</a:t>
              </a:r>
            </a:p>
          </p:txBody>
        </p:sp>
      </p:grpSp>
      <p:grpSp>
        <p:nvGrpSpPr>
          <p:cNvPr id="11" name="source-link"/>
          <p:cNvGrpSpPr/>
          <p:nvPr/>
        </p:nvGrpSpPr>
        <p:grpSpPr>
          <a:xfrm>
            <a:off x="521208" y="3917918"/>
            <a:ext cx="7429500" cy="1301782"/>
            <a:chOff x="521208" y="3917918"/>
            <a:chExt cx="7429500" cy="1301782"/>
          </a:xfrm>
        </p:grpSpPr>
        <p:sp>
          <p:nvSpPr>
            <p:cNvPr id="7" name="TextBox 7">
              <a:hlinkClick r:id="rId6"/>
            </p:cNvPr>
            <p:cNvSpPr/>
            <p:nvPr/>
          </p:nvSpPr>
          <p:spPr>
            <a:xfrm>
              <a:off x="521208" y="3917918"/>
              <a:ext cx="74295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400" b="1" dirty="0">
                  <a:solidFill>
                    <a:srgbClr val="22D3EE"/>
                  </a:solidFill>
                  <a:latin typeface="Arial"/>
                  <a:ea typeface="Arial"/>
                  <a:cs typeface="Arial"/>
                </a:rPr>
                <a:t>github.com/NeryaAI/Nerya-Avalanche</a:t>
              </a:r>
            </a:p>
          </p:txBody>
        </p:sp>
        <p:sp>
          <p:nvSpPr>
            <p:cNvPr id="8" name="Rectangle 8">
              <a:hlinkClick r:id="rId6"/>
            </p:cNvPr>
            <p:cNvSpPr/>
            <p:nvPr/>
          </p:nvSpPr>
          <p:spPr>
            <a:xfrm>
              <a:off x="533400" y="4591050"/>
              <a:ext cx="4095750" cy="628650"/>
            </a:xfrm>
            <a:prstGeom prst="roundRect">
              <a:avLst>
                <a:gd name="adj" fmla="val 21212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9" name="Polygon 9">
              <a:hlinkClick r:id="rId6"/>
            </p:cNvPr>
            <p:cNvSpPr/>
            <p:nvPr/>
          </p:nvSpPr>
          <p:spPr>
            <a:xfrm>
              <a:off x="702278" y="4762500"/>
              <a:ext cx="271843" cy="258508"/>
            </a:xfrm>
            <a:custGeom>
              <a:avLst/>
              <a:gdLst/>
              <a:ahLst/>
              <a:cxnLst/>
              <a:rect l="l" t="t" r="r" b="b"/>
              <a:pathLst>
                <a:path w="271843" h="258508">
                  <a:moveTo>
                    <a:pt x="135922" y="0"/>
                  </a:moveTo>
                  <a:lnTo>
                    <a:pt x="172307" y="92774"/>
                  </a:lnTo>
                  <a:lnTo>
                    <a:pt x="271843" y="98679"/>
                  </a:lnTo>
                  <a:lnTo>
                    <a:pt x="194786" y="162020"/>
                  </a:lnTo>
                  <a:lnTo>
                    <a:pt x="219932" y="258508"/>
                  </a:lnTo>
                  <a:lnTo>
                    <a:pt x="135922" y="204788"/>
                  </a:lnTo>
                  <a:lnTo>
                    <a:pt x="51911" y="258508"/>
                  </a:lnTo>
                  <a:lnTo>
                    <a:pt x="77057" y="162020"/>
                  </a:lnTo>
                  <a:lnTo>
                    <a:pt x="0" y="98679"/>
                  </a:lnTo>
                  <a:lnTo>
                    <a:pt x="99536" y="92774"/>
                  </a:lnTo>
                  <a:close/>
                </a:path>
              </a:pathLst>
            </a:custGeom>
            <a:solidFill>
              <a:srgbClr val="E9EBF2"/>
            </a:solidFill>
            <a:ln>
              <a:noFill/>
            </a:ln>
          </p:spPr>
        </p:sp>
        <p:sp>
          <p:nvSpPr>
            <p:cNvPr id="10" name="TextBox 10">
              <a:hlinkClick r:id="rId6"/>
            </p:cNvPr>
            <p:cNvSpPr/>
            <p:nvPr/>
          </p:nvSpPr>
          <p:spPr>
            <a:xfrm>
              <a:off x="1104519" y="4749832"/>
              <a:ext cx="25135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E9EBF2"/>
                  </a:solidFill>
                  <a:latin typeface="Arial"/>
                  <a:ea typeface="Microsoft YaHei"/>
                  <a:cs typeface="Arial"/>
                </a:rPr>
                <a:t>试用 Nerya + 点 Star</a:t>
              </a:r>
            </a:p>
          </p:txBody>
        </p:sp>
      </p:grpSp>
      <p:grpSp>
        <p:nvGrpSpPr>
          <p:cNvPr id="13" name="mascot-return"/>
          <p:cNvGrpSpPr/>
          <p:nvPr/>
        </p:nvGrpSpPr>
        <p:grpSpPr>
          <a:xfrm>
            <a:off x="9765506" y="723900"/>
            <a:ext cx="1281112" cy="1924050"/>
            <a:chOff x="9765506" y="723900"/>
            <a:chExt cx="1281112" cy="192405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65506" y="723900"/>
              <a:ext cx="1281112" cy="1924050"/>
            </a:xfrm>
            <a:prstGeom prst="rect">
              <a:avLst/>
            </a:prstGeom>
          </p:spPr>
        </p:pic>
      </p:grpSp>
      <p:grpSp>
        <p:nvGrpSpPr>
          <p:cNvPr id="17" name="github-qr"/>
          <p:cNvGrpSpPr/>
          <p:nvPr/>
        </p:nvGrpSpPr>
        <p:grpSpPr>
          <a:xfrm>
            <a:off x="8353425" y="2800350"/>
            <a:ext cx="2857500" cy="3308890"/>
            <a:chOff x="8353425" y="2800350"/>
            <a:chExt cx="2857500" cy="3308890"/>
          </a:xfrm>
        </p:grpSpPr>
        <p:sp>
          <p:nvSpPr>
            <p:cNvPr id="14" name="Rectangle 14">
              <a:hlinkClick r:id="rId6"/>
            </p:cNvPr>
            <p:cNvSpPr/>
            <p:nvPr/>
          </p:nvSpPr>
          <p:spPr>
            <a:xfrm>
              <a:off x="8353425" y="2800350"/>
              <a:ext cx="2857500" cy="2857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25" name="Image 25">
              <a:hlinkClick r:id="rId6"/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43925" y="2990850"/>
              <a:ext cx="2476500" cy="2476500"/>
            </a:xfrm>
            <a:prstGeom prst="rect">
              <a:avLst/>
            </a:prstGeom>
          </p:spPr>
        </p:pic>
        <p:sp>
          <p:nvSpPr>
            <p:cNvPr id="16" name="TextBox 16">
              <a:hlinkClick r:id="rId6"/>
            </p:cNvPr>
            <p:cNvSpPr/>
            <p:nvPr/>
          </p:nvSpPr>
          <p:spPr>
            <a:xfrm>
              <a:off x="8890540" y="5845207"/>
              <a:ext cx="17833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A3ACC0"/>
                  </a:solidFill>
                  <a:latin typeface="Arial"/>
                  <a:ea typeface="Microsoft YaHei"/>
                  <a:cs typeface="Arial"/>
                </a:rPr>
                <a:t>扫码查看 GitHub 仓库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220986" y="6397625"/>
            <a:ext cx="442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h">
  <a:themeElements>
    <a:clrScheme name="zh">
      <a:dk1>
        <a:srgbClr val="E9EBF2"/>
      </a:dk1>
      <a:lt1>
        <a:srgbClr val="101219"/>
      </a:lt1>
      <a:dk2>
        <a:srgbClr val="1F497D"/>
      </a:dk2>
      <a:lt2>
        <a:srgbClr val="1B1E28"/>
      </a:lt2>
      <a:accent1>
        <a:srgbClr val="8B5CF6"/>
      </a:accent1>
      <a:accent2>
        <a:srgbClr val="B48BFF"/>
      </a:accent2>
      <a:accent3>
        <a:srgbClr val="22D3EE"/>
      </a:accent3>
      <a:accent4>
        <a:srgbClr val="8B5CF6"/>
      </a:accent4>
      <a:accent5>
        <a:srgbClr val="A3ACC0"/>
      </a:accent5>
      <a:accent6>
        <a:srgbClr val="394050"/>
      </a:accent6>
      <a:hlink>
        <a:srgbClr val="B48BFF"/>
      </a:hlink>
      <a:folHlink>
        <a:srgbClr val="22D3EE"/>
      </a:folHlink>
    </a:clrScheme>
    <a:fontScheme name="zh">
      <a:majorFont>
        <a:latin typeface="Arial Black"/>
        <a:ea typeface="Arial Unicode MS"/>
        <a:cs typeface="Arial Black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 Unicode MS"/>
        <a:cs typeface="Arial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zh">
  <a:themeElements>
    <a:clrScheme name="zh">
      <a:dk1>
        <a:srgbClr val="E9EBF2"/>
      </a:dk1>
      <a:lt1>
        <a:srgbClr val="101219"/>
      </a:lt1>
      <a:dk2>
        <a:srgbClr val="1F497D"/>
      </a:dk2>
      <a:lt2>
        <a:srgbClr val="1B1E28"/>
      </a:lt2>
      <a:accent1>
        <a:srgbClr val="8B5CF6"/>
      </a:accent1>
      <a:accent2>
        <a:srgbClr val="B48BFF"/>
      </a:accent2>
      <a:accent3>
        <a:srgbClr val="22D3EE"/>
      </a:accent3>
      <a:accent4>
        <a:srgbClr val="8B5CF6"/>
      </a:accent4>
      <a:accent5>
        <a:srgbClr val="A3ACC0"/>
      </a:accent5>
      <a:accent6>
        <a:srgbClr val="394050"/>
      </a:accent6>
      <a:hlink>
        <a:srgbClr val="B48BFF"/>
      </a:hlink>
      <a:folHlink>
        <a:srgbClr val="22D3EE"/>
      </a:folHlink>
    </a:clrScheme>
    <a:fontScheme name="zh">
      <a:majorFont>
        <a:latin typeface="Arial Black"/>
        <a:ea typeface="Arial Unicode MS"/>
        <a:cs typeface="Arial Black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 Unicode MS"/>
        <a:cs typeface="Arial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2026-10-12T18:31:15Z</dcterms:created>
  <dcterms:modified xsi:type="dcterms:W3CDTF">2026-10-12T18:31:15Z</dcterms:modified>
  <cp:category/>
  <cp:contentStatus/>
</cp:coreProperties>
</file>